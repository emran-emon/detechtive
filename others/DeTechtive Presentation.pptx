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Orbitron"/>
      <p:regular r:id="rId15"/>
      <p:bold r:id="rId16"/>
    </p:embeddedFont>
    <p:embeddedFont>
      <p:font typeface="Rajdhani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rbitron-regular.fntdata"/><Relationship Id="rId14" Type="http://schemas.openxmlformats.org/officeDocument/2006/relationships/slide" Target="slides/slide9.xml"/><Relationship Id="rId17" Type="http://schemas.openxmlformats.org/officeDocument/2006/relationships/font" Target="fonts/Rajdhani-regular.fntdata"/><Relationship Id="rId16" Type="http://schemas.openxmlformats.org/officeDocument/2006/relationships/font" Target="fonts/Orbitron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ajdhani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064fd6dc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b064fd6dc3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10" Type="http://schemas.openxmlformats.org/officeDocument/2006/relationships/image" Target="../media/image12.png"/><Relationship Id="rId9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10" Type="http://schemas.openxmlformats.org/officeDocument/2006/relationships/image" Target="../media/image20.png"/><Relationship Id="rId9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24.png"/><Relationship Id="rId7" Type="http://schemas.openxmlformats.org/officeDocument/2006/relationships/image" Target="../media/image8.png"/><Relationship Id="rId8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2.png"/><Relationship Id="rId6" Type="http://schemas.openxmlformats.org/officeDocument/2006/relationships/hyperlink" Target="https://github.com/Emran-Emon/DeTechtiv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028600"/>
            <a:ext cx="110299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05276" y="2510730"/>
            <a:ext cx="11581447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D700"/>
                </a:solidFill>
                <a:latin typeface="Orbitron"/>
                <a:ea typeface="Orbitron"/>
                <a:cs typeface="Orbitron"/>
                <a:sym typeface="Orbitron"/>
              </a:rPr>
              <a:t>DETECHTIVE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3653730"/>
            <a:ext cx="110299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ADE80"/>
                </a:solidFill>
                <a:latin typeface="Rajdhani"/>
                <a:ea typeface="Rajdhani"/>
                <a:cs typeface="Rajdhani"/>
                <a:sym typeface="Rajdhani"/>
              </a:rPr>
              <a:t>The Batcomputer: Bayesian Network Mystery Solver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6400975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GROUP #</a:t>
            </a:r>
            <a:r>
              <a:rPr lang="en-US" sz="1050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8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8610475" y="6304825"/>
            <a:ext cx="2933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MD. MRAN N</a:t>
            </a:r>
            <a:r>
              <a:rPr lang="en-US" sz="1150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OOR </a:t>
            </a:r>
            <a:r>
              <a:rPr b="0" i="0" lang="en-US" sz="1150" u="none" cap="none" strike="noStrike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EMON | </a:t>
            </a:r>
            <a:r>
              <a:rPr lang="en-US" sz="1150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SHAFKAT SHARIF BHUIYAN</a:t>
            </a:r>
            <a:r>
              <a:rPr b="0" i="0" lang="en-US" sz="1150" u="none" cap="none" strike="noStrike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 | </a:t>
            </a:r>
            <a:r>
              <a:rPr lang="en-US" sz="1150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NUDAR NAWAL HOSSAIN</a:t>
            </a:r>
            <a:endParaRPr sz="1150">
              <a:solidFill>
                <a:schemeClr val="lt1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24037"/>
            <a:ext cx="522922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6429375"/>
            <a:ext cx="110299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ADE80"/>
                </a:solidFill>
                <a:latin typeface="Orbitron"/>
                <a:ea typeface="Orbitron"/>
                <a:cs typeface="Orbitron"/>
                <a:sym typeface="Orbitron"/>
              </a:rPr>
              <a:t>THE DETECTIVE'S DILEMMA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81025" y="125730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6534150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GROUP #8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667750" y="6429375"/>
            <a:ext cx="29337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MD. MRAN NOOR EMON | SHAFKAT SHARIF BHUIYAN | NUDAR NAWAL HOSSAIN</a:t>
            </a:r>
            <a:endParaRPr sz="1150">
              <a:solidFill>
                <a:schemeClr val="lt1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66666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2567136"/>
            <a:ext cx="549068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INFORMATION OVERLOAD</a:t>
            </a:r>
            <a:endParaRPr/>
          </a:p>
        </p:txBody>
      </p:sp>
      <p:pic>
        <p:nvPicPr>
          <p:cNvPr id="102" name="Google Shape;102;p14" title="istockphoto-1277426194-612x612.jpg"/>
          <p:cNvPicPr preferRelativeResize="0"/>
          <p:nvPr/>
        </p:nvPicPr>
        <p:blipFill rotWithShape="1">
          <a:blip r:embed="rId6">
            <a:alphaModFix/>
          </a:blip>
          <a:srcRect b="12064" l="0" r="0" t="12057"/>
          <a:stretch/>
        </p:blipFill>
        <p:spPr>
          <a:xfrm>
            <a:off x="6391275" y="1833562"/>
            <a:ext cx="5210174" cy="42672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895350" y="3102441"/>
            <a:ext cx="666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62025" y="3100536"/>
            <a:ext cx="48482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Crime scenes in Gotham generate massive amounts of conflicting data.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95350" y="3976657"/>
            <a:ext cx="666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62025" y="3974752"/>
            <a:ext cx="48482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Human intuition is prone to bias and error.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95350" y="4485203"/>
            <a:ext cx="666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62025" y="4483298"/>
            <a:ext cx="48482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Goal:</a:t>
            </a:r>
            <a:r>
              <a:rPr b="0" i="0" lang="en-US" sz="18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 Create a system that calculates the </a:t>
            </a:r>
            <a:r>
              <a:rPr b="0" i="1" lang="en-US" sz="18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mathematical probability</a:t>
            </a:r>
            <a:r>
              <a:rPr b="0" i="0" lang="en-US" sz="18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 of guilt based on evidence.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47986"/>
            <a:ext cx="2543175" cy="44382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9950" y="1747986"/>
            <a:ext cx="2543175" cy="44382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747986"/>
            <a:ext cx="2543175" cy="44382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67800" y="1747986"/>
            <a:ext cx="2543175" cy="44382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6429375"/>
            <a:ext cx="110299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ADE80"/>
                </a:solidFill>
                <a:latin typeface="Orbitron"/>
                <a:ea typeface="Orbitron"/>
                <a:cs typeface="Orbitron"/>
                <a:sym typeface="Orbitron"/>
              </a:rPr>
              <a:t>DUAL-STACK ARCHITECTURE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81025" y="125730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581025" y="6534150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GROUP #8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677275" y="6429375"/>
            <a:ext cx="29337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MD. MRAN NOOR EMON | SHAFKAT SHARIF BHUIYAN | NUDAR NAWAL HOSSAIN</a:t>
            </a:r>
            <a:endParaRPr sz="1150">
              <a:solidFill>
                <a:schemeClr val="lt1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66666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827484" y="2843361"/>
            <a:ext cx="2050256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THE GATEWAY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76300" y="3833961"/>
            <a:ext cx="1952625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React Frontend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 Secure Login/Signup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 Modern UX (Vite + Tailwind)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3656409" y="3033861"/>
            <a:ext cx="205025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66666"/>
                </a:solidFill>
                <a:latin typeface="Orbitron"/>
                <a:ea typeface="Orbitron"/>
                <a:cs typeface="Orbitron"/>
                <a:sym typeface="Orbitron"/>
              </a:rPr>
              <a:t>REDIRECTS TO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485334" y="2843361"/>
            <a:ext cx="2050256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THE SOLVER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534150" y="3833961"/>
            <a:ext cx="1952625" cy="1828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Streamlit App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 Interactive Evidence Log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 Real-time Visualization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314259" y="2843361"/>
            <a:ext cx="205025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THE BRAIN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363075" y="3452961"/>
            <a:ext cx="1952625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Python Backend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 Bayesian Logic (pgmpy)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 Dynamic JSON Data</a:t>
            </a:r>
            <a:endParaRPr/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14487" y="2071836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71987" y="2071836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72337" y="2071836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01262" y="2071836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429375"/>
            <a:ext cx="110299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4ADE80"/>
                </a:solidFill>
                <a:latin typeface="Orbitron"/>
                <a:ea typeface="Orbitron"/>
                <a:cs typeface="Orbitron"/>
                <a:sym typeface="Orbitron"/>
              </a:rPr>
              <a:t>THE PORTAL: FRONTEND INTERFACE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81025" y="1257300"/>
            <a:ext cx="11030100" cy="19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581025" y="6534150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GROUP #8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677275" y="6429375"/>
            <a:ext cx="29337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MD. MRAN NOOR EMON | SHAFKAT SHARIF BHUIYAN | NUDAR NAWAL HOSSAIN</a:t>
            </a:r>
            <a:endParaRPr sz="1150">
              <a:solidFill>
                <a:schemeClr val="lt1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66666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144" name="Google Shape;144;p16" title="574609889_758988657184514_1960062144074492360_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291825"/>
            <a:ext cx="12192000" cy="461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429375"/>
            <a:ext cx="110299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ADE80"/>
                </a:solidFill>
                <a:latin typeface="Orbitron"/>
                <a:ea typeface="Orbitron"/>
                <a:cs typeface="Orbitron"/>
                <a:sym typeface="Orbitron"/>
              </a:rPr>
              <a:t>THE LOGIC CORE: BAYESIAN NETWORKS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81025" y="125730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581025" y="6534150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GROUP #8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677275" y="6429363"/>
            <a:ext cx="29337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MD. MRAN NOOR EMON | SHAFKAT SHARIF BHUIYAN | NUDAR NAWAL HOSSAIN</a:t>
            </a:r>
            <a:endParaRPr sz="1150">
              <a:solidFill>
                <a:schemeClr val="lt1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66666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0637" y="2482006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6381750" y="1352550"/>
            <a:ext cx="549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DYNAMIC GENERATION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381750" y="1721850"/>
            <a:ext cx="5229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We don't hardcode rules. We load `gotham_mysteries.json`.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381750" y="2481991"/>
            <a:ext cx="52293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Factory Pattern:</a:t>
            </a:r>
            <a:r>
              <a:rPr b="0" i="0" lang="en-US" sz="21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 `create_mystery_model()` builds the network on the fly.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381788" y="3373259"/>
            <a:ext cx="5229300" cy="13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Inference:</a:t>
            </a:r>
            <a:r>
              <a:rPr b="0" i="0" lang="en-US" sz="21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 Uses Variable Elimination to calculate posterior probability: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100" u="none" cap="none" strike="noStrike">
                <a:solidFill>
                  <a:srgbClr val="FFD700"/>
                </a:solidFill>
                <a:latin typeface="Rajdhani"/>
                <a:ea typeface="Rajdhani"/>
                <a:cs typeface="Rajdhani"/>
                <a:sym typeface="Rajdhani"/>
              </a:rPr>
              <a:t>P(Guilt | Evidence)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381750" y="4919457"/>
            <a:ext cx="52293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Scalable:</a:t>
            </a:r>
            <a:r>
              <a:rPr b="0" i="0" lang="en-US" sz="21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 Adding a new case is as simple as editing a text file.</a:t>
            </a:r>
            <a:endParaRPr/>
          </a:p>
        </p:txBody>
      </p:sp>
      <p:pic>
        <p:nvPicPr>
          <p:cNvPr descr="image.png" id="161" name="Google Shape;16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7925" y="2558916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7925" y="3484646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7925" y="5007120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429375"/>
            <a:ext cx="110299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ADE80"/>
                </a:solidFill>
                <a:latin typeface="Orbitron"/>
                <a:ea typeface="Orbitron"/>
                <a:cs typeface="Orbitron"/>
                <a:sym typeface="Orbitron"/>
              </a:rPr>
              <a:t>TECHNOLOGY STACK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581025" y="125730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581025" y="6534150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GROUP #8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677275" y="6429375"/>
            <a:ext cx="29337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MD. MRAN NOOR EMON | SHAFKAT SHARIF BHUIYAN | NUDAR NAWAL HOSSAIN</a:t>
            </a:r>
            <a:endParaRPr sz="1150">
              <a:solidFill>
                <a:schemeClr val="lt1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66666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704850" y="2328944"/>
            <a:ext cx="1103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Languages:</a:t>
            </a:r>
            <a:r>
              <a:rPr b="0" i="0" lang="en-US" sz="21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 Python (Logic), TypeScript (Frontend)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704925" y="2898497"/>
            <a:ext cx="1103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Frameworks:</a:t>
            </a:r>
            <a:r>
              <a:rPr b="0" i="0" lang="en-US" sz="21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 Streamlit (Solver UI), React + Vite (Auth UI)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704925" y="3472938"/>
            <a:ext cx="1103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Libraries:</a:t>
            </a:r>
            <a:r>
              <a:rPr b="0" i="0" lang="en-US" sz="21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 pgmpy (Bayesian Math), Graphviz (Visualization), Pandas (Data)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705000" y="4024415"/>
            <a:ext cx="1103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Styling:</a:t>
            </a:r>
            <a:r>
              <a:rPr b="0" i="0" lang="en-US" sz="21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 Tailwind CSS (Frontend), Custom CSS (Streamlit)</a:t>
            </a:r>
            <a:endParaRPr/>
          </a:p>
        </p:txBody>
      </p:sp>
      <p:pic>
        <p:nvPicPr>
          <p:cNvPr descr="image.png" id="178" name="Google Shape;17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253930"/>
            <a:ext cx="15811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52675" y="5253930"/>
            <a:ext cx="15240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239048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298839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534488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132865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429375"/>
            <a:ext cx="110299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ADE80"/>
                </a:solidFill>
                <a:latin typeface="Orbitron"/>
                <a:ea typeface="Orbitron"/>
                <a:cs typeface="Orbitron"/>
                <a:sym typeface="Orbitron"/>
              </a:rPr>
              <a:t>PROJECT IMPACT</a:t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581025" y="125730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581025" y="6534150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GROUP #8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8677275" y="6429375"/>
            <a:ext cx="29337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MD. MRAN NOOR EMON | SHAFKAT SHARIF BHUIYAN | NUDAR NAWAL HOSSAIN</a:t>
            </a:r>
            <a:endParaRPr sz="1150">
              <a:solidFill>
                <a:schemeClr val="lt1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66666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581025" y="4439691"/>
            <a:ext cx="110299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Conclusion:</a:t>
            </a:r>
            <a:r>
              <a:rPr b="0" i="0" lang="en-US" sz="18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 We successfully bridged modern web tech (React) with data science tools (Python) to create an engaging, scalable educational tool.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1425475" y="2534691"/>
            <a:ext cx="16097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4ADE80"/>
                </a:solidFill>
                <a:latin typeface="Orbitron"/>
                <a:ea typeface="Orbitron"/>
                <a:cs typeface="Orbitron"/>
                <a:sym typeface="Orbitron"/>
              </a:rPr>
              <a:t>12+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1425475" y="3487191"/>
            <a:ext cx="16097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Playable Scenarios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4394100" y="2534700"/>
            <a:ext cx="3403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4ADE80"/>
                </a:solidFill>
                <a:latin typeface="Orbitron"/>
                <a:ea typeface="Orbitron"/>
                <a:cs typeface="Orbitron"/>
                <a:sym typeface="Orbitron"/>
              </a:rPr>
              <a:t>10</a:t>
            </a:r>
            <a:r>
              <a:rPr lang="en-US" sz="7500">
                <a:solidFill>
                  <a:srgbClr val="4ADE80"/>
                </a:solidFill>
                <a:latin typeface="Orbitron"/>
                <a:ea typeface="Orbitron"/>
                <a:cs typeface="Orbitron"/>
                <a:sym typeface="Orbitron"/>
              </a:rPr>
              <a:t>0</a:t>
            </a:r>
            <a:r>
              <a:rPr b="0" i="0" lang="en-US" sz="7500" u="none" cap="none" strike="noStrike">
                <a:solidFill>
                  <a:srgbClr val="4ADE80"/>
                </a:solidFill>
                <a:latin typeface="Orbitron"/>
                <a:ea typeface="Orbitron"/>
                <a:cs typeface="Orbitron"/>
                <a:sym typeface="Orbitron"/>
              </a:rPr>
              <a:t>%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4724251" y="3487191"/>
            <a:ext cx="28765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Data Driven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9289851" y="2534691"/>
            <a:ext cx="147637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4ADE80"/>
                </a:solidFill>
                <a:latin typeface="Orbitron"/>
                <a:ea typeface="Orbitron"/>
                <a:cs typeface="Orbitron"/>
                <a:sym typeface="Orbitron"/>
              </a:rPr>
              <a:t>&lt;1s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9289851" y="3487191"/>
            <a:ext cx="1476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Inference Time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13657"/>
            <a:ext cx="3486150" cy="3706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113657"/>
            <a:ext cx="3486150" cy="3706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113657"/>
            <a:ext cx="3486150" cy="3706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6429375"/>
            <a:ext cx="110299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ADE80"/>
                </a:solidFill>
                <a:latin typeface="Orbitron"/>
                <a:ea typeface="Orbitron"/>
                <a:cs typeface="Orbitron"/>
                <a:sym typeface="Orbitron"/>
              </a:rPr>
              <a:t>FUTURE WORK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81025" y="125730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81025" y="6534150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GROUP #8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8677275" y="6429375"/>
            <a:ext cx="29337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MD. MRAN NOOR EMON | SHAFKAT SHARIF BHUIYAN | NUDAR NAWAL HOSSAIN</a:t>
            </a:r>
            <a:endParaRPr sz="1150">
              <a:solidFill>
                <a:schemeClr val="lt1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66666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803910" y="3209032"/>
            <a:ext cx="304038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MOBILE APP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876300" y="3818632"/>
            <a:ext cx="28956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Porting the React frontend to React Native for investigation on the go.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4575810" y="3209032"/>
            <a:ext cx="304038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LLM INTEGRATION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4648200" y="4199632"/>
            <a:ext cx="28956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Using </a:t>
            </a:r>
            <a:r>
              <a:rPr lang="en-US" sz="1800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further comic research</a:t>
            </a:r>
            <a:r>
              <a:rPr b="0" i="0" lang="en-US" sz="18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 to generate infinite random mysteries into the JSON file.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8347710" y="3209032"/>
            <a:ext cx="304038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MULTIPLAYER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8420100" y="3818632"/>
            <a:ext cx="28956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3A3A3"/>
                </a:solidFill>
                <a:latin typeface="Rajdhani"/>
                <a:ea typeface="Rajdhani"/>
                <a:cs typeface="Rajdhani"/>
                <a:sym typeface="Rajdhani"/>
              </a:rPr>
              <a:t>Competitions to see who can solve the mystery with the fewest clues.</a:t>
            </a:r>
            <a:endParaRPr/>
          </a:p>
        </p:txBody>
      </p:sp>
      <p:pic>
        <p:nvPicPr>
          <p:cNvPr descr="image.png" id="220" name="Google Shape;22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43125" y="2437507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95962" y="2437507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67862" y="2437507"/>
            <a:ext cx="60007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429375"/>
            <a:ext cx="110299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305276" y="1953517"/>
            <a:ext cx="11581447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4ADE80"/>
                </a:solidFill>
                <a:latin typeface="Orbitron"/>
                <a:ea typeface="Orbitron"/>
                <a:cs typeface="Orbitron"/>
                <a:sym typeface="Orbitron"/>
              </a:rPr>
              <a:t>TO THE BATCAVE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581025" y="3096517"/>
            <a:ext cx="110299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ADE80"/>
                </a:solidFill>
                <a:latin typeface="Rajdhani"/>
                <a:ea typeface="Rajdhani"/>
                <a:cs typeface="Rajdhani"/>
                <a:sym typeface="Rajdhani"/>
              </a:rPr>
              <a:t>Code Walkthrough &amp; Live Demo Video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581025" y="6534150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GROUP #8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8677275" y="6429375"/>
            <a:ext cx="29337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MD. MRAN NOOR EMON | SHAFKAT SHARIF BHUIYAN | NUDAR NAWAL HOSSAIN</a:t>
            </a:r>
            <a:endParaRPr sz="1150">
              <a:solidFill>
                <a:schemeClr val="lt1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66666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descr="image.png" id="233" name="Google Shape;23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9775" y="3713708"/>
            <a:ext cx="5524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580950" y="4506142"/>
            <a:ext cx="1103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hlink"/>
                </a:solidFill>
                <a:latin typeface="Rajdhani"/>
                <a:ea typeface="Rajdhani"/>
                <a:cs typeface="Rajdhani"/>
                <a:sym typeface="Rajdhani"/>
                <a:hlinkClick r:id="rId6"/>
              </a:rPr>
              <a:t>https://github.com/Emran-Emon/DeTechtive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